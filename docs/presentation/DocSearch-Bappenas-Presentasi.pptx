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46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97280" y="-1371600"/>
            <a:ext cx="4114800" cy="4114800"/>
          </a:xfrm>
          <a:prstGeom prst="ellipse">
            <a:avLst/>
          </a:prstGeom>
          <a:solidFill>
            <a:srgbClr val="0B6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4114800"/>
            <a:ext cx="3200400" cy="3200400"/>
          </a:xfrm>
          <a:prstGeom prst="ellipse">
            <a:avLst/>
          </a:prstGeom>
          <a:solidFill>
            <a:srgbClr val="0B6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7772400" cy="109728"/>
          </a:xfrm>
          <a:prstGeom prst="roundRect">
            <a:avLst>
              <a:gd name="adj" fmla="val 10000"/>
            </a:avLst>
          </a:prstGeom>
          <a:solidFill>
            <a:srgbClr val="0F8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Calibri"/>
              </a:defRPr>
            </a:pPr>
            <a:r>
              <a:t>DocSearch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8F5F3"/>
                </a:solidFill>
                <a:latin typeface="Calibri"/>
              </a:defRPr>
            </a:pPr>
            <a:r>
              <a:t>Portal dokumen cerdas untuk organisasi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931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7D6CE"/>
                </a:solidFill>
                <a:latin typeface="Calibri"/>
              </a:defRPr>
            </a:pPr>
            <a:r>
              <a:t>Cloud  →  OCR  →  Cari  →  Tanya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DocSearch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4652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1 / 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64640"/>
                </a:solidFill>
                <a:latin typeface="Calibri"/>
              </a:defRPr>
            </a:pPr>
            <a:r>
              <a:t>Agenda singkat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822960" cy="64008"/>
          </a:xfrm>
          <a:prstGeom prst="rect">
            <a:avLst/>
          </a:prstGeom>
          <a:solidFill>
            <a:srgbClr val="0B6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539496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F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755648"/>
            <a:ext cx="457200" cy="457200"/>
          </a:xfrm>
          <a:prstGeom prst="ellipse">
            <a:avLst/>
          </a:prstGeom>
          <a:solidFill>
            <a:srgbClr val="0B6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82880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Calibri"/>
              </a:defRPr>
            </a:pPr>
            <a:r>
              <a:t>Masalah &amp; peluang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554480"/>
            <a:ext cx="539496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F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37960" y="1755648"/>
            <a:ext cx="457200" cy="457200"/>
          </a:xfrm>
          <a:prstGeom prst="ellipse">
            <a:avLst/>
          </a:prstGeom>
          <a:solidFill>
            <a:srgbClr val="0B6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828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182880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Calibri"/>
              </a:defRPr>
            </a:pPr>
            <a:r>
              <a:t>Nilai yang ditawarkan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606039"/>
            <a:ext cx="539496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F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680" y="2807207"/>
            <a:ext cx="457200" cy="457200"/>
          </a:xfrm>
          <a:prstGeom prst="ellipse">
            <a:avLst/>
          </a:prstGeom>
          <a:solidFill>
            <a:srgbClr val="0B6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88035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880359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Calibri"/>
              </a:defRPr>
            </a:pPr>
            <a:r>
              <a:t>Cara kerja &amp; alur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2606039"/>
            <a:ext cx="539496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F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537960" y="2807207"/>
            <a:ext cx="457200" cy="457200"/>
          </a:xfrm>
          <a:prstGeom prst="ellipse">
            <a:avLst/>
          </a:prstGeom>
          <a:solidFill>
            <a:srgbClr val="0B6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88035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880359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Calibri"/>
              </a:defRPr>
            </a:pPr>
            <a:r>
              <a:t>Gambaran teknis &amp; flow coding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657600"/>
            <a:ext cx="539496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F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68680" y="3858768"/>
            <a:ext cx="457200" cy="457200"/>
          </a:xfrm>
          <a:prstGeom prst="ellipse">
            <a:avLst/>
          </a:prstGeom>
          <a:solidFill>
            <a:srgbClr val="0B6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3931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393192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Calibri"/>
              </a:defRPr>
            </a:pPr>
            <a:r>
              <a:t>Fitur untuk pengguna &amp; admin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3657600"/>
            <a:ext cx="539496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F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537960" y="3858768"/>
            <a:ext cx="457200" cy="457200"/>
          </a:xfrm>
          <a:prstGeom prst="ellipse">
            <a:avLst/>
          </a:prstGeom>
          <a:solidFill>
            <a:srgbClr val="0B6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3931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393192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Calibri"/>
              </a:defRPr>
            </a:pPr>
            <a:r>
              <a:t>Infrastruktur &amp; keamanan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4709159"/>
            <a:ext cx="539496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F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68680" y="4910327"/>
            <a:ext cx="457200" cy="457200"/>
          </a:xfrm>
          <a:prstGeom prst="ellipse">
            <a:avLst/>
          </a:prstGeom>
          <a:solidFill>
            <a:srgbClr val="0B6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498347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4480" y="4983479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Calibri"/>
              </a:defRPr>
            </a:pPr>
            <a:r>
              <a:t>Langkah selanjutnya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4652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6E63"/>
                </a:solidFill>
                <a:latin typeface="Calibri"/>
              </a:defRPr>
            </a:pPr>
            <a:r>
              <a:t>DocSearch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24160" y="644652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64640"/>
                </a:solidFill>
                <a:latin typeface="Calibri"/>
              </a:defRPr>
            </a:pPr>
            <a:r>
              <a:t>Masalah di lapangan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822960" cy="64008"/>
          </a:xfrm>
          <a:prstGeom prst="rect">
            <a:avLst/>
          </a:prstGeom>
          <a:solidFill>
            <a:srgbClr val="0B6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Dokumen ada, tapi sulit dimanfaatkan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91640"/>
            <a:ext cx="2743200" cy="411480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08760" y="2011680"/>
            <a:ext cx="685800" cy="685800"/>
          </a:xfrm>
          <a:prstGeom prst="ellipse">
            <a:avLst/>
          </a:prstGeom>
          <a:solidFill>
            <a:srgbClr val="BE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2148840"/>
            <a:ext cx="685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92608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E293B"/>
                </a:solidFill>
                <a:latin typeface="Calibri"/>
              </a:defRPr>
            </a:pPr>
            <a:r>
              <a:t>Sulit dicari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6616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Calibri"/>
              </a:defRPr>
            </a:pPr>
            <a:r>
              <a:t>Nama file tidak mewakili isi.</a:t>
            </a:r>
            <a:br/>
            <a:r>
              <a:t>Cari di cloud = tebak-tebakan.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691640"/>
            <a:ext cx="2743200" cy="411480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434840" y="2011680"/>
            <a:ext cx="685800" cy="685800"/>
          </a:xfrm>
          <a:prstGeom prst="ellipse">
            <a:avLst/>
          </a:prstGeom>
          <a:solidFill>
            <a:srgbClr val="C27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2148840"/>
            <a:ext cx="685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92608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E293B"/>
                </a:solidFill>
                <a:latin typeface="Calibri"/>
              </a:defRPr>
            </a:pPr>
            <a:r>
              <a:t>Waktu terbuang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356616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Calibri"/>
              </a:defRPr>
            </a:pPr>
            <a:r>
              <a:t>Buka folder &amp; PDF berulang.</a:t>
            </a:r>
            <a:br/>
            <a:r>
              <a:t>Tim menunggu dokumen.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691640"/>
            <a:ext cx="2743200" cy="4114800"/>
          </a:xfrm>
          <a:prstGeom prst="roundRect">
            <a:avLst>
              <a:gd name="adj" fmla="val 8000"/>
            </a:avLst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60920" y="2011680"/>
            <a:ext cx="685800" cy="685800"/>
          </a:xfrm>
          <a:prstGeom prst="ellipse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60920" y="2148840"/>
            <a:ext cx="685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92608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E293B"/>
                </a:solidFill>
                <a:latin typeface="Calibri"/>
              </a:defRPr>
            </a:pPr>
            <a:r>
              <a:t>Belum siap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56616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Calibri"/>
              </a:defRPr>
            </a:pPr>
            <a:r>
              <a:t>Tanya isi dokumen masih</a:t>
            </a:r>
            <a:br/>
            <a:r>
              <a:t>manual ke orang / baca sendiri.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81160" y="1691640"/>
            <a:ext cx="2743200" cy="4114800"/>
          </a:xfrm>
          <a:prstGeom prst="roundRect">
            <a:avLst>
              <a:gd name="adj" fmla="val 8000"/>
            </a:avLst>
          </a:prstGeom>
          <a:solidFill>
            <a:srgbClr val="E8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287000" y="2011680"/>
            <a:ext cx="685800" cy="685800"/>
          </a:xfrm>
          <a:prstGeom prst="ellipse">
            <a:avLst/>
          </a:prstGeom>
          <a:solidFill>
            <a:srgbClr val="0B6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87000" y="2148840"/>
            <a:ext cx="685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64040" y="292608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E293B"/>
                </a:solidFill>
                <a:latin typeface="Calibri"/>
              </a:defRPr>
            </a:pPr>
            <a:r>
              <a:t>Status tidak jelas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64040" y="356616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Calibri"/>
              </a:defRPr>
            </a:pPr>
            <a:r>
              <a:t>Mana yang sudah di-OCR?</a:t>
            </a:r>
            <a:br/>
            <a:r>
              <a:t>Mana yang kosong / rusak?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4652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6E63"/>
                </a:solidFill>
                <a:latin typeface="Calibri"/>
              </a:defRPr>
            </a:pPr>
            <a:r>
              <a:t>DocSearch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0" y="644652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64640"/>
                </a:solidFill>
                <a:latin typeface="Calibri"/>
              </a:defRPr>
            </a:pPr>
            <a:r>
              <a:t>Solusi DocSearch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822960" cy="64008"/>
          </a:xfrm>
          <a:prstGeom prst="rect">
            <a:avLst/>
          </a:prstGeom>
          <a:solidFill>
            <a:srgbClr val="0B6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Satu portal untuk ambil, baca, cari, dan tanya dokumen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11064240" cy="1005840"/>
          </a:xfrm>
          <a:prstGeom prst="roundRect">
            <a:avLst>
              <a:gd name="adj" fmla="val 10000"/>
            </a:avLst>
          </a:prstGeom>
          <a:solidFill>
            <a:srgbClr val="0B6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Cloud organisasi  →  OCR otomatis  →  Indeks pintar  →  Search &amp; Ask 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926080"/>
            <a:ext cx="2743200" cy="2926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A7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2926080"/>
            <a:ext cx="2743200" cy="640080"/>
          </a:xfrm>
          <a:prstGeom prst="roundRect">
            <a:avLst>
              <a:gd name="adj" fmla="val 10000"/>
            </a:avLst>
          </a:prstGeom>
          <a:solidFill>
            <a:srgbClr val="0B6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0632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Library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931920"/>
            <a:ext cx="2377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1E293B"/>
                </a:solidFill>
                <a:latin typeface="Calibri"/>
              </a:defRPr>
            </a:pPr>
            <a:r>
              <a:t>Browse cloud</a:t>
            </a:r>
            <a:br/>
            <a:r>
              <a:t>langsung di portal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2926080"/>
            <a:ext cx="2743200" cy="2926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A7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29000" y="2926080"/>
            <a:ext cx="2743200" cy="640080"/>
          </a:xfrm>
          <a:prstGeom prst="roundRect">
            <a:avLst>
              <a:gd name="adj" fmla="val 10000"/>
            </a:avLst>
          </a:prstGeom>
          <a:solidFill>
            <a:srgbClr val="0F8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30632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OCR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3931920"/>
            <a:ext cx="2377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1E293B"/>
                </a:solidFill>
                <a:latin typeface="Calibri"/>
              </a:defRPr>
            </a:pPr>
            <a:r>
              <a:t>PDF jadi teks</a:t>
            </a:r>
            <a:br/>
            <a:r>
              <a:t>yang bisa dicari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59" y="2926080"/>
            <a:ext cx="2743200" cy="2926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A7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09359" y="2926080"/>
            <a:ext cx="2743200" cy="640080"/>
          </a:xfrm>
          <a:prstGeom prst="roundRect">
            <a:avLst>
              <a:gd name="adj" fmla="val 10000"/>
            </a:avLst>
          </a:prstGeom>
          <a:solidFill>
            <a:srgbClr val="0B6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59" y="30632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Search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39" y="3931920"/>
            <a:ext cx="2377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1E293B"/>
                </a:solidFill>
                <a:latin typeface="Calibri"/>
              </a:defRPr>
            </a:pPr>
            <a:r>
              <a:t>Cari isi dokumen</a:t>
            </a:r>
            <a:br/>
            <a:r>
              <a:t>bukan hanya nama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89719" y="2926080"/>
            <a:ext cx="2743200" cy="2926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A7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189719" y="2926080"/>
            <a:ext cx="2743200" cy="640080"/>
          </a:xfrm>
          <a:prstGeom prst="roundRect">
            <a:avLst>
              <a:gd name="adj" fmla="val 10000"/>
            </a:avLst>
          </a:prstGeom>
          <a:solidFill>
            <a:srgbClr val="0F8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89719" y="30632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Ask 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599" y="3931920"/>
            <a:ext cx="2377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1E293B"/>
                </a:solidFill>
                <a:latin typeface="Calibri"/>
              </a:defRPr>
            </a:pPr>
            <a:r>
              <a:t>Tanya jawaban</a:t>
            </a:r>
            <a:br/>
            <a:r>
              <a:t>dari dokumen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6E63"/>
                </a:solidFill>
                <a:latin typeface="Calibri"/>
              </a:defRPr>
            </a:pPr>
            <a:r>
              <a:t>DocSearch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44652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64640"/>
                </a:solidFill>
                <a:latin typeface="Calibri"/>
              </a:defRPr>
            </a:pPr>
            <a:r>
              <a:t>Sebelum vs sesudah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822960" cy="64008"/>
          </a:xfrm>
          <a:prstGeom prst="rect">
            <a:avLst/>
          </a:prstGeom>
          <a:solidFill>
            <a:srgbClr val="0B6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554480"/>
            <a:ext cx="5394960" cy="438912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63640" y="1554480"/>
            <a:ext cx="5394960" cy="4389120"/>
          </a:xfrm>
          <a:prstGeom prst="roundRect">
            <a:avLst>
              <a:gd name="adj" fmla="val 8000"/>
            </a:avLst>
          </a:prstGeom>
          <a:solidFill>
            <a:srgbClr val="E8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BE4646"/>
                </a:solidFill>
                <a:latin typeface="Calibri"/>
              </a:defRPr>
            </a:pPr>
            <a:r>
              <a:t>Sebelum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B6E63"/>
                </a:solidFill>
                <a:latin typeface="Calibri"/>
              </a:defRPr>
            </a:pPr>
            <a:r>
              <a:t>Dengan DocSearch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4754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600" b="0">
                <a:solidFill>
                  <a:srgbClr val="1E293B"/>
                </a:solidFill>
                <a:latin typeface="Calibri"/>
              </a:defRPr>
            </a:pPr>
            <a:r>
              <a:t>• Cari manual di cloud</a:t>
            </a:r>
          </a:p>
          <a:p>
            <a:pPr algn="l">
              <a:spcAft>
                <a:spcPts val="1200"/>
              </a:spcAft>
              <a:defRPr sz="1600" b="0">
                <a:solidFill>
                  <a:srgbClr val="1E293B"/>
                </a:solidFill>
                <a:latin typeface="Calibri"/>
              </a:defRPr>
            </a:pPr>
            <a:r>
              <a:t>• Baca PDF satu per satu</a:t>
            </a:r>
          </a:p>
          <a:p>
            <a:pPr algn="l">
              <a:spcAft>
                <a:spcPts val="1200"/>
              </a:spcAft>
              <a:defRPr sz="1600" b="0">
                <a:solidFill>
                  <a:srgbClr val="1E293B"/>
                </a:solidFill>
                <a:latin typeface="Calibri"/>
              </a:defRPr>
            </a:pPr>
            <a:r>
              <a:t>• Status OCR tidak diketahui</a:t>
            </a:r>
          </a:p>
          <a:p>
            <a:pPr algn="l">
              <a:spcAft>
                <a:spcPts val="1200"/>
              </a:spcAft>
              <a:defRPr sz="1600" b="0">
                <a:solidFill>
                  <a:srgbClr val="1E293B"/>
                </a:solidFill>
                <a:latin typeface="Calibri"/>
              </a:defRPr>
            </a:pPr>
            <a:r>
              <a:t>• Tanya isi ke rekan / email</a:t>
            </a:r>
          </a:p>
          <a:p>
            <a:pPr algn="l">
              <a:spcAft>
                <a:spcPts val="1200"/>
              </a:spcAft>
              <a:defRPr sz="1600" b="0">
                <a:solidFill>
                  <a:srgbClr val="1E293B"/>
                </a:solidFill>
                <a:latin typeface="Calibri"/>
              </a:defRPr>
            </a:pPr>
            <a:r>
              <a:t>• Risiko file kosong / rusak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560320"/>
            <a:ext cx="4754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600" b="0">
                <a:solidFill>
                  <a:srgbClr val="1E293B"/>
                </a:solidFill>
                <a:latin typeface="Calibri"/>
              </a:defRPr>
            </a:pPr>
            <a:r>
              <a:t>• Cari isi dokumen dalam detik</a:t>
            </a:r>
          </a:p>
          <a:p>
            <a:pPr algn="l">
              <a:spcAft>
                <a:spcPts val="1200"/>
              </a:spcAft>
              <a:defRPr sz="1600" b="0">
                <a:solidFill>
                  <a:srgbClr val="1E293B"/>
                </a:solidFill>
                <a:latin typeface="Calibri"/>
              </a:defRPr>
            </a:pPr>
            <a:r>
              <a:t>• OCR &amp; indeks otomatis</a:t>
            </a:r>
          </a:p>
          <a:p>
            <a:pPr algn="l">
              <a:spcAft>
                <a:spcPts val="1200"/>
              </a:spcAft>
              <a:defRPr sz="1600" b="0">
                <a:solidFill>
                  <a:srgbClr val="1E293B"/>
                </a:solidFill>
                <a:latin typeface="Calibri"/>
              </a:defRPr>
            </a:pPr>
            <a:r>
              <a:t>• Status jelas di Library</a:t>
            </a:r>
          </a:p>
          <a:p>
            <a:pPr algn="l">
              <a:spcAft>
                <a:spcPts val="1200"/>
              </a:spcAft>
              <a:defRPr sz="1600" b="0">
                <a:solidFill>
                  <a:srgbClr val="1E293B"/>
                </a:solidFill>
                <a:latin typeface="Calibri"/>
              </a:defRPr>
            </a:pPr>
            <a:r>
              <a:t>• Tanya AI langsung di portal</a:t>
            </a:r>
          </a:p>
          <a:p>
            <a:pPr algn="l">
              <a:spcAft>
                <a:spcPts val="1200"/>
              </a:spcAft>
              <a:defRPr sz="1600" b="0">
                <a:solidFill>
                  <a:srgbClr val="1E293B"/>
                </a:solidFill>
                <a:latin typeface="Calibri"/>
              </a:defRPr>
            </a:pPr>
            <a:r>
              <a:t>• File 0 B &amp; gagal terlihat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6E63"/>
                </a:solidFill>
                <a:latin typeface="Calibri"/>
              </a:defRPr>
            </a:pPr>
            <a:r>
              <a:t>DocSearch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644652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64640"/>
                </a:solidFill>
                <a:latin typeface="Calibri"/>
              </a:defRPr>
            </a:pPr>
            <a:r>
              <a:t>Alur pengguna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822960" cy="64008"/>
          </a:xfrm>
          <a:prstGeom prst="rect">
            <a:avLst/>
          </a:prstGeom>
          <a:solidFill>
            <a:srgbClr val="0B6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Dari cloud sampai jawaban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194560"/>
            <a:ext cx="1783080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B6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423160"/>
            <a:ext cx="640080" cy="640080"/>
          </a:xfrm>
          <a:prstGeom prst="ellipse">
            <a:avLst/>
          </a:prstGeom>
          <a:solidFill>
            <a:srgbClr val="0B6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4203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91840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64640"/>
                </a:solidFill>
                <a:latin typeface="Calibri"/>
              </a:defRPr>
            </a:pPr>
            <a:r>
              <a:t>Login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886200"/>
            <a:ext cx="1600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Masuk portal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148840" y="3566160"/>
            <a:ext cx="201168" cy="256032"/>
          </a:xfrm>
          <a:prstGeom prst="rightArrow">
            <a:avLst/>
          </a:prstGeom>
          <a:solidFill>
            <a:srgbClr val="0F8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331720" y="2194560"/>
            <a:ext cx="1783080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B6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880360" y="2423160"/>
            <a:ext cx="640080" cy="640080"/>
          </a:xfrm>
          <a:prstGeom prst="ellipse">
            <a:avLst/>
          </a:prstGeom>
          <a:solidFill>
            <a:srgbClr val="0B6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80360" y="254203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3291840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64640"/>
                </a:solidFill>
                <a:latin typeface="Calibri"/>
              </a:defRPr>
            </a:pPr>
            <a:r>
              <a:t>Library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3886200"/>
            <a:ext cx="1600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Pilih folder</a:t>
            </a:r>
            <a:br/>
            <a:r>
              <a:t>&amp; dokumen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114800" y="3566160"/>
            <a:ext cx="201168" cy="256032"/>
          </a:xfrm>
          <a:prstGeom prst="rightArrow">
            <a:avLst/>
          </a:prstGeom>
          <a:solidFill>
            <a:srgbClr val="0F8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297680" y="2194560"/>
            <a:ext cx="1783080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B6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846320" y="2423160"/>
            <a:ext cx="640080" cy="640080"/>
          </a:xfrm>
          <a:prstGeom prst="ellipse">
            <a:avLst/>
          </a:prstGeom>
          <a:solidFill>
            <a:srgbClr val="0B6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0" y="254203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3291840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64640"/>
                </a:solidFill>
                <a:latin typeface="Calibri"/>
              </a:defRPr>
            </a:pPr>
            <a:r>
              <a:t>Fetch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3886200"/>
            <a:ext cx="1600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Ambil &amp; OCR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6080760" y="3566160"/>
            <a:ext cx="201168" cy="256032"/>
          </a:xfrm>
          <a:prstGeom prst="rightArrow">
            <a:avLst/>
          </a:prstGeom>
          <a:solidFill>
            <a:srgbClr val="0F8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63640" y="2194560"/>
            <a:ext cx="1783080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B6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812280" y="2423160"/>
            <a:ext cx="640080" cy="640080"/>
          </a:xfrm>
          <a:prstGeom prst="ellipse">
            <a:avLst/>
          </a:prstGeom>
          <a:solidFill>
            <a:srgbClr val="0B6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254203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3291840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64640"/>
                </a:solidFill>
                <a:latin typeface="Calibri"/>
              </a:defRPr>
            </a:pPr>
            <a:r>
              <a:t>Siap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3886200"/>
            <a:ext cx="1600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Dokumen</a:t>
            </a:r>
            <a:br/>
            <a:r>
              <a:t>terindeks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8046720" y="3566160"/>
            <a:ext cx="201168" cy="256032"/>
          </a:xfrm>
          <a:prstGeom prst="rightArrow">
            <a:avLst/>
          </a:prstGeom>
          <a:solidFill>
            <a:srgbClr val="0F8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229600" y="2194560"/>
            <a:ext cx="1783080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B6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778240" y="2423160"/>
            <a:ext cx="640080" cy="640080"/>
          </a:xfrm>
          <a:prstGeom prst="ellipse">
            <a:avLst/>
          </a:prstGeom>
          <a:solidFill>
            <a:srgbClr val="0B6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78240" y="254203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3291840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64640"/>
                </a:solidFill>
                <a:latin typeface="Calibri"/>
              </a:defRPr>
            </a:pPr>
            <a:r>
              <a:t>Search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3886200"/>
            <a:ext cx="1600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Cari isi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10012680" y="3566160"/>
            <a:ext cx="201168" cy="256032"/>
          </a:xfrm>
          <a:prstGeom prst="rightArrow">
            <a:avLst/>
          </a:prstGeom>
          <a:solidFill>
            <a:srgbClr val="0F8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0195560" y="2194560"/>
            <a:ext cx="1783080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B6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744200" y="2423160"/>
            <a:ext cx="640080" cy="640080"/>
          </a:xfrm>
          <a:prstGeom prst="ellipse">
            <a:avLst/>
          </a:prstGeom>
          <a:solidFill>
            <a:srgbClr val="0B6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744200" y="254203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87000" y="3291840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64640"/>
                </a:solidFill>
                <a:latin typeface="Calibri"/>
              </a:defRPr>
            </a:pPr>
            <a:r>
              <a:t>Ask AI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87000" y="3886200"/>
            <a:ext cx="1600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Tanya</a:t>
            </a:r>
            <a:br/>
            <a:r>
              <a:t>jawaban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44652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6E63"/>
                </a:solidFill>
                <a:latin typeface="Calibri"/>
              </a:defRPr>
            </a:pPr>
            <a:r>
              <a:t>DocSearch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24160" y="644652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64640"/>
                </a:solidFill>
                <a:latin typeface="Calibri"/>
              </a:defRPr>
            </a:pPr>
            <a:r>
              <a:t>Alur teknis dokumen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822960" cy="64008"/>
          </a:xfrm>
          <a:prstGeom prst="rect">
            <a:avLst/>
          </a:prstGeom>
          <a:solidFill>
            <a:srgbClr val="0B6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Bagaimana file berubah menjadi pengetahuan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828800"/>
            <a:ext cx="2148840" cy="2377440"/>
          </a:xfrm>
          <a:prstGeom prst="roundRect">
            <a:avLst>
              <a:gd name="adj" fmla="val 8000"/>
            </a:avLst>
          </a:prstGeom>
          <a:solidFill>
            <a:srgbClr val="0B6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194560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Cloud</a:t>
            </a:r>
            <a:br/>
            <a:r>
              <a:t>WebDAV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47472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8F5F3"/>
                </a:solidFill>
                <a:latin typeface="Calibri"/>
              </a:defRPr>
            </a:pPr>
            <a:r>
              <a:t>Sumber PDF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560320" y="2788920"/>
            <a:ext cx="201168" cy="274320"/>
          </a:xfrm>
          <a:prstGeom prst="rightArrow">
            <a:avLst/>
          </a:prstGeom>
          <a:solidFill>
            <a:srgbClr val="A7D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743200" y="1828800"/>
            <a:ext cx="2148840" cy="2377440"/>
          </a:xfrm>
          <a:prstGeom prst="roundRect">
            <a:avLst>
              <a:gd name="adj" fmla="val 8000"/>
            </a:avLst>
          </a:prstGeom>
          <a:solidFill>
            <a:srgbClr val="0F8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0" y="2194560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Portal &amp;</a:t>
            </a:r>
            <a:br/>
            <a:r>
              <a:t>Worker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347472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8F5F3"/>
                </a:solidFill>
                <a:latin typeface="Calibri"/>
              </a:defRPr>
            </a:pPr>
            <a:r>
              <a:t>Ambil file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892040" y="2788920"/>
            <a:ext cx="201168" cy="274320"/>
          </a:xfrm>
          <a:prstGeom prst="rightArrow">
            <a:avLst/>
          </a:prstGeom>
          <a:solidFill>
            <a:srgbClr val="A7D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74920" y="1828800"/>
            <a:ext cx="2148840" cy="2377440"/>
          </a:xfrm>
          <a:prstGeom prst="roundRect">
            <a:avLst>
              <a:gd name="adj" fmla="val 8000"/>
            </a:avLst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66360" y="2194560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Mesin</a:t>
            </a:r>
            <a:br/>
            <a:r>
              <a:t>OCR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347472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8F5F3"/>
                </a:solidFill>
                <a:latin typeface="Calibri"/>
              </a:defRPr>
            </a:pPr>
            <a:r>
              <a:t>Teks + meta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223760" y="2788920"/>
            <a:ext cx="201168" cy="274320"/>
          </a:xfrm>
          <a:prstGeom prst="rightArrow">
            <a:avLst/>
          </a:prstGeom>
          <a:solidFill>
            <a:srgbClr val="A7D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06640" y="1828800"/>
            <a:ext cx="2148840" cy="2377440"/>
          </a:xfrm>
          <a:prstGeom prst="roundRect">
            <a:avLst>
              <a:gd name="adj" fmla="val 8000"/>
            </a:avLst>
          </a:prstGeom>
          <a:solidFill>
            <a:srgbClr val="C27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0" y="2194560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Indeks &amp;</a:t>
            </a:r>
            <a:br/>
            <a:r>
              <a:t>Embedding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0" y="347472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8F5F3"/>
                </a:solidFill>
                <a:latin typeface="Calibri"/>
              </a:defRPr>
            </a:pPr>
            <a:r>
              <a:t>Siap dicari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555480" y="2788920"/>
            <a:ext cx="201168" cy="274320"/>
          </a:xfrm>
          <a:prstGeom prst="rightArrow">
            <a:avLst/>
          </a:prstGeom>
          <a:solidFill>
            <a:srgbClr val="A7D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738359" y="1828800"/>
            <a:ext cx="2148840" cy="2377440"/>
          </a:xfrm>
          <a:prstGeom prst="roundRect">
            <a:avLst>
              <a:gd name="adj" fmla="val 8000"/>
            </a:avLst>
          </a:prstGeom>
          <a:solidFill>
            <a:srgbClr val="064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29799" y="2194560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Search &amp;</a:t>
            </a:r>
            <a:br/>
            <a:r>
              <a:t>Ask 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29799" y="347472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8F5F3"/>
                </a:solidFill>
                <a:latin typeface="Calibri"/>
              </a:defRPr>
            </a:pPr>
            <a:r>
              <a:t>Hasil ke user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663440"/>
            <a:ext cx="1115568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A7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8006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6E63"/>
                </a:solidFill>
                <a:latin typeface="Calibri"/>
              </a:defRPr>
            </a:pPr>
            <a:r>
              <a:t>Status file di sepanjang proses</a:t>
            </a:r>
          </a:p>
        </p:txBody>
      </p:sp>
      <p:sp>
        <p:nvSpPr>
          <p:cNvPr id="26" name="Oval 25"/>
          <p:cNvSpPr/>
          <p:nvPr/>
        </p:nvSpPr>
        <p:spPr>
          <a:xfrm>
            <a:off x="822960" y="5257800"/>
            <a:ext cx="256032" cy="256032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88720" y="523036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Belum diambil</a:t>
            </a:r>
          </a:p>
        </p:txBody>
      </p:sp>
      <p:sp>
        <p:nvSpPr>
          <p:cNvPr id="28" name="Oval 27"/>
          <p:cNvSpPr/>
          <p:nvPr/>
        </p:nvSpPr>
        <p:spPr>
          <a:xfrm>
            <a:off x="3017520" y="5257800"/>
            <a:ext cx="256032" cy="256032"/>
          </a:xfrm>
          <a:prstGeom prst="ellipse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83280" y="523036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Mengunduh</a:t>
            </a:r>
          </a:p>
        </p:txBody>
      </p:sp>
      <p:sp>
        <p:nvSpPr>
          <p:cNvPr id="30" name="Oval 29"/>
          <p:cNvSpPr/>
          <p:nvPr/>
        </p:nvSpPr>
        <p:spPr>
          <a:xfrm>
            <a:off x="5212080" y="5257800"/>
            <a:ext cx="256032" cy="256032"/>
          </a:xfrm>
          <a:prstGeom prst="ellipse">
            <a:avLst/>
          </a:prstGeom>
          <a:solidFill>
            <a:srgbClr val="C27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77840" y="523036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OCR berjalan</a:t>
            </a:r>
          </a:p>
        </p:txBody>
      </p:sp>
      <p:sp>
        <p:nvSpPr>
          <p:cNvPr id="32" name="Oval 31"/>
          <p:cNvSpPr/>
          <p:nvPr/>
        </p:nvSpPr>
        <p:spPr>
          <a:xfrm>
            <a:off x="7406640" y="5257800"/>
            <a:ext cx="256032" cy="256032"/>
          </a:xfrm>
          <a:prstGeom prst="ellipse">
            <a:avLst/>
          </a:prstGeom>
          <a:solidFill>
            <a:srgbClr val="0B6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0" y="523036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Siap</a:t>
            </a:r>
          </a:p>
        </p:txBody>
      </p:sp>
      <p:sp>
        <p:nvSpPr>
          <p:cNvPr id="34" name="Oval 33"/>
          <p:cNvSpPr/>
          <p:nvPr/>
        </p:nvSpPr>
        <p:spPr>
          <a:xfrm>
            <a:off x="9601200" y="5257800"/>
            <a:ext cx="256032" cy="256032"/>
          </a:xfrm>
          <a:prstGeom prst="ellipse">
            <a:avLst/>
          </a:prstGeom>
          <a:solidFill>
            <a:srgbClr val="BE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966960" y="523036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Gagal / 0 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44652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6E63"/>
                </a:solidFill>
                <a:latin typeface="Calibri"/>
              </a:defRPr>
            </a:pPr>
            <a:r>
              <a:t>DocSearch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24160" y="644652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64640"/>
                </a:solidFill>
                <a:latin typeface="Calibri"/>
              </a:defRPr>
            </a:pPr>
            <a:r>
              <a:t>Gambaran besar teknis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822960" cy="64008"/>
          </a:xfrm>
          <a:prstGeom prst="rect">
            <a:avLst/>
          </a:prstGeom>
          <a:solidFill>
            <a:srgbClr val="0B6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Komponen utama (tingkat tinggi)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0" y="1417320"/>
            <a:ext cx="3931920" cy="777240"/>
          </a:xfrm>
          <a:prstGeom prst="roundRect">
            <a:avLst>
              <a:gd name="adj" fmla="val 10000"/>
            </a:avLst>
          </a:prstGeom>
          <a:solidFill>
            <a:srgbClr val="0B6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0" y="155448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Pengguna (Browser)</a:t>
            </a:r>
          </a:p>
        </p:txBody>
      </p:sp>
      <p:sp>
        <p:nvSpPr>
          <p:cNvPr id="7" name="Down Arrow 6"/>
          <p:cNvSpPr/>
          <p:nvPr/>
        </p:nvSpPr>
        <p:spPr>
          <a:xfrm>
            <a:off x="5852160" y="2194560"/>
            <a:ext cx="365760" cy="320040"/>
          </a:xfrm>
          <a:prstGeom prst="downArrow">
            <a:avLst/>
          </a:prstGeom>
          <a:solidFill>
            <a:srgbClr val="A7D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560320" y="2606040"/>
            <a:ext cx="7040880" cy="1051560"/>
          </a:xfrm>
          <a:prstGeom prst="roundRect">
            <a:avLst>
              <a:gd name="adj" fmla="val 10000"/>
            </a:avLst>
          </a:prstGeom>
          <a:solidFill>
            <a:srgbClr val="0F8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0" y="2697480"/>
            <a:ext cx="7040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Portal Web DocSearch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3108960"/>
            <a:ext cx="7040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8F5F3"/>
                </a:solidFill>
                <a:latin typeface="Calibri"/>
              </a:defRPr>
            </a:pPr>
            <a:r>
              <a:t>Login · Library · Search · Ask AI · Admin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852160" y="3703320"/>
            <a:ext cx="365760" cy="274320"/>
          </a:xfrm>
          <a:prstGeom prst="downArrow">
            <a:avLst/>
          </a:prstGeom>
          <a:solidFill>
            <a:srgbClr val="A7D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4069080"/>
            <a:ext cx="3383280" cy="1737360"/>
          </a:xfrm>
          <a:prstGeom prst="roundRect">
            <a:avLst>
              <a:gd name="adj" fmla="val 8000"/>
            </a:avLst>
          </a:prstGeom>
          <a:solidFill>
            <a:srgbClr val="064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25196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Worker Sync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480060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Ambil file dari</a:t>
            </a:r>
            <a:br/>
            <a:r>
              <a:t>cloud &amp; antre OCR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4069080"/>
            <a:ext cx="3383280" cy="1737360"/>
          </a:xfrm>
          <a:prstGeom prst="roundRect">
            <a:avLst>
              <a:gd name="adj" fmla="val 8000"/>
            </a:avLst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425196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Mesin OCR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480060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Ubah PDF menjadi</a:t>
            </a:r>
            <a:br/>
            <a:r>
              <a:t>teks terstruktur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4069080"/>
            <a:ext cx="3383280" cy="1737360"/>
          </a:xfrm>
          <a:prstGeom prst="roundRect">
            <a:avLst>
              <a:gd name="adj" fmla="val 8000"/>
            </a:avLst>
          </a:prstGeom>
          <a:solidFill>
            <a:srgbClr val="C27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83880" y="425196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Layanan 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80060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Embedding &amp;</a:t>
            </a:r>
            <a:br/>
            <a:r>
              <a:t>jawab pertanyaan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4652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6E63"/>
                </a:solidFill>
                <a:latin typeface="Calibri"/>
              </a:defRPr>
            </a:pPr>
            <a:r>
              <a:t>DocSearch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0" y="644652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64640"/>
                </a:solidFill>
                <a:latin typeface="Calibri"/>
              </a:defRPr>
            </a:pPr>
            <a:r>
              <a:t>Di balik portal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822960" cy="64008"/>
          </a:xfrm>
          <a:prstGeom prst="rect">
            <a:avLst/>
          </a:prstGeom>
          <a:solidFill>
            <a:srgbClr val="0B6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Apa yang disimpan &amp; dihubungkan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00200"/>
            <a:ext cx="274320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B6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2743200" cy="777240"/>
          </a:xfrm>
          <a:prstGeom prst="roundRect">
            <a:avLst>
              <a:gd name="adj" fmla="val 10000"/>
            </a:avLst>
          </a:prstGeom>
          <a:solidFill>
            <a:srgbClr val="0B6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51760"/>
            <a:ext cx="21945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  <a:r>
              <a:t>• User &amp; peran</a:t>
            </a:r>
          </a:p>
          <a:p>
            <a:pPr algn="l">
              <a:spcAft>
                <a:spcPts val="140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  <a:r>
              <a:t>• Status sync file</a:t>
            </a:r>
          </a:p>
          <a:p>
            <a:pPr algn="l">
              <a:spcAft>
                <a:spcPts val="140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  <a:r>
              <a:t>• Riwayat chat</a:t>
            </a:r>
          </a:p>
          <a:p>
            <a:pPr algn="l">
              <a:spcAft>
                <a:spcPts val="140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  <a:r>
              <a:t>• Audit aktivitas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600200"/>
            <a:ext cx="274320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29000" y="1600200"/>
            <a:ext cx="2743200" cy="777240"/>
          </a:xfrm>
          <a:prstGeom prst="roundRect">
            <a:avLst>
              <a:gd name="adj" fmla="val 10000"/>
            </a:avLst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1783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Penyimpanan OCR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2651760"/>
            <a:ext cx="21945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  <a:r>
              <a:t>• Hasil teks PDF</a:t>
            </a:r>
          </a:p>
          <a:p>
            <a:pPr algn="l">
              <a:spcAft>
                <a:spcPts val="140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  <a:r>
              <a:t>• Preview dokumen</a:t>
            </a:r>
          </a:p>
          <a:p>
            <a:pPr algn="l">
              <a:spcAft>
                <a:spcPts val="140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  <a:r>
              <a:t>• Metadata file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600200"/>
            <a:ext cx="274320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27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55080" y="1600200"/>
            <a:ext cx="2743200" cy="777240"/>
          </a:xfrm>
          <a:prstGeom prst="roundRect">
            <a:avLst>
              <a:gd name="adj" fmla="val 10000"/>
            </a:avLst>
          </a:prstGeom>
          <a:solidFill>
            <a:srgbClr val="C27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783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Antre &amp; cache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2651760"/>
            <a:ext cx="21945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  <a:r>
              <a:t>• Job scan batch</a:t>
            </a:r>
          </a:p>
          <a:p>
            <a:pPr algn="l">
              <a:spcAft>
                <a:spcPts val="140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  <a:r>
              <a:t>• Proses paralel</a:t>
            </a:r>
          </a:p>
          <a:p>
            <a:pPr algn="l">
              <a:spcAft>
                <a:spcPts val="140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  <a:r>
              <a:t>• Status real-time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81160" y="1600200"/>
            <a:ext cx="274320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F8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281160" y="1600200"/>
            <a:ext cx="2743200" cy="777240"/>
          </a:xfrm>
          <a:prstGeom prst="roundRect">
            <a:avLst>
              <a:gd name="adj" fmla="val 10000"/>
            </a:avLst>
          </a:prstGeom>
          <a:solidFill>
            <a:srgbClr val="0F8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81160" y="1783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Cloud sumber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55480" y="2651760"/>
            <a:ext cx="21945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  <a:r>
              <a:t>• Folder organisasi</a:t>
            </a:r>
          </a:p>
          <a:p>
            <a:pPr algn="l">
              <a:spcAft>
                <a:spcPts val="140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  <a:r>
              <a:t>• PDF asli</a:t>
            </a:r>
          </a:p>
          <a:p>
            <a:pPr algn="l">
              <a:spcAft>
                <a:spcPts val="140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  <a:r>
              <a:t>• Akses per user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4652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6E63"/>
                </a:solidFill>
                <a:latin typeface="Calibri"/>
              </a:defRPr>
            </a:pPr>
            <a:r>
              <a:t>DocSearch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0" y="644652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64640"/>
                </a:solidFill>
                <a:latin typeface="Calibri"/>
              </a:defRPr>
            </a:pPr>
            <a:r>
              <a:t>Tiga aktor di balik kode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822960" cy="64008"/>
          </a:xfrm>
          <a:prstGeom prst="rect">
            <a:avLst/>
          </a:prstGeom>
          <a:solidFill>
            <a:srgbClr val="0B6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Siapa mengerjakan apa saat scan &amp; OCR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3703320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B6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3703320" cy="1417320"/>
          </a:xfrm>
          <a:prstGeom prst="roundRect">
            <a:avLst>
              <a:gd name="adj" fmla="val 10000"/>
            </a:avLst>
          </a:prstGeom>
          <a:solidFill>
            <a:srgbClr val="0B6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F5F3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5740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Portal Next.js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514600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F5F3"/>
                </a:solidFill>
                <a:latin typeface="Calibri"/>
              </a:defRPr>
            </a:pPr>
            <a:r>
              <a:t>app/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9184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  <a:r>
              <a:t>• UI Library, Search, Ask AI</a:t>
            </a:r>
          </a:p>
          <a:p>
            <a:pPr algn="l">
              <a:spcAft>
                <a:spcPts val="160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  <a:r>
              <a:t>• API: browse, ingest, chat</a:t>
            </a:r>
          </a:p>
          <a:p>
            <a:pPr algn="l">
              <a:spcAft>
                <a:spcPts val="160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  <a:r>
              <a:t>• Catat job &amp; status di DB app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160520" y="3566160"/>
            <a:ext cx="182880" cy="256032"/>
          </a:xfrm>
          <a:prstGeom prst="rightArrow">
            <a:avLst/>
          </a:prstGeom>
          <a:solidFill>
            <a:srgbClr val="A7D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43400" y="1554480"/>
            <a:ext cx="3703320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43400" y="1554480"/>
            <a:ext cx="3703320" cy="1417320"/>
          </a:xfrm>
          <a:prstGeom prst="roundRect">
            <a:avLst>
              <a:gd name="adj" fmla="val 10000"/>
            </a:avLst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7373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F5F3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05740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sync-worker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514600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F5F3"/>
                </a:solidFill>
                <a:latin typeface="Calibri"/>
              </a:defRPr>
            </a:pPr>
            <a:r>
              <a:t>sync-worker/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29184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  <a:r>
              <a:t>• Ambil antrian Redis / BullMQ</a:t>
            </a:r>
          </a:p>
          <a:p>
            <a:pPr algn="l">
              <a:spcAft>
                <a:spcPts val="160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  <a:r>
              <a:t>• Download PDF dari Nextcloud</a:t>
            </a:r>
          </a:p>
          <a:p>
            <a:pPr algn="l">
              <a:spcAft>
                <a:spcPts val="160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  <a:r>
              <a:t>• Reconcile OCR &amp; embedding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046720" y="3566160"/>
            <a:ext cx="182880" cy="256032"/>
          </a:xfrm>
          <a:prstGeom prst="rightArrow">
            <a:avLst/>
          </a:prstGeom>
          <a:solidFill>
            <a:srgbClr val="A7D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600" y="1554480"/>
            <a:ext cx="3703320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27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229600" y="1554480"/>
            <a:ext cx="3703320" cy="1417320"/>
          </a:xfrm>
          <a:prstGeom prst="roundRect">
            <a:avLst>
              <a:gd name="adj" fmla="val 10000"/>
            </a:avLst>
          </a:prstGeom>
          <a:solidFill>
            <a:srgbClr val="C27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58200" y="17373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F5F3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05740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Paperless-ngx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2514600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F5F3"/>
                </a:solidFill>
                <a:latin typeface="Calibri"/>
              </a:defRPr>
            </a:pPr>
            <a:r>
              <a:t>Docker service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9640" y="329184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  <a:r>
              <a:t>• Baca PDF (OCR)</a:t>
            </a:r>
          </a:p>
          <a:p>
            <a:pPr algn="l">
              <a:spcAft>
                <a:spcPts val="160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  <a:r>
              <a:t>• Simpan file + teks hasil</a:t>
            </a:r>
          </a:p>
          <a:p>
            <a:pPr algn="l">
              <a:spcAft>
                <a:spcPts val="160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  <a:r>
              <a:t>• Sumber full-text search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4652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6E63"/>
                </a:solidFill>
                <a:latin typeface="Calibri"/>
              </a:defRPr>
            </a:pPr>
            <a:r>
              <a:t>DocSearch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0" y="644652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64640"/>
                </a:solidFill>
                <a:latin typeface="Calibri"/>
              </a:defRPr>
            </a:pPr>
            <a:r>
              <a:t>Flow coding dokumen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822960" cy="64008"/>
          </a:xfrm>
          <a:prstGeom prst="rect">
            <a:avLst/>
          </a:prstGeom>
          <a:solidFill>
            <a:srgbClr val="0B6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Dari klik Ambil sampai siap dicari &amp; ditanya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6032" y="1691640"/>
            <a:ext cx="1572768" cy="4160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A7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22376" y="1920240"/>
            <a:ext cx="640080" cy="640080"/>
          </a:xfrm>
          <a:prstGeom prst="ellipse">
            <a:avLst/>
          </a:prstGeom>
          <a:solidFill>
            <a:srgbClr val="0B6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" y="205740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" y="2743200"/>
            <a:ext cx="14264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64640"/>
                </a:solidFill>
                <a:latin typeface="Calibri"/>
              </a:defRPr>
            </a:pPr>
            <a:r>
              <a:t>Browse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" y="3291840"/>
            <a:ext cx="1426464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UI list folder</a:t>
            </a:r>
            <a:br/>
            <a:r>
              <a:t>WebDAV Nextcloud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828800" y="3520440"/>
            <a:ext cx="146304" cy="219456"/>
          </a:xfrm>
          <a:prstGeom prst="rightArrow">
            <a:avLst/>
          </a:prstGeom>
          <a:solidFill>
            <a:srgbClr val="0F8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956816" y="1691640"/>
            <a:ext cx="1572768" cy="4160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A7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423160" y="1920240"/>
            <a:ext cx="640080" cy="640080"/>
          </a:xfrm>
          <a:prstGeom prst="ellipse">
            <a:avLst/>
          </a:prstGeom>
          <a:solidFill>
            <a:srgbClr val="0B6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23160" y="205740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29968" y="2743200"/>
            <a:ext cx="14264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64640"/>
                </a:solidFill>
                <a:latin typeface="Calibri"/>
              </a:defRPr>
            </a:pPr>
            <a:r>
              <a:t>Ingest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29968" y="3291840"/>
            <a:ext cx="1426464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POST /api/</a:t>
            </a:r>
            <a:br/>
            <a:r>
              <a:t>cloud/ingest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529584" y="3520440"/>
            <a:ext cx="146304" cy="219456"/>
          </a:xfrm>
          <a:prstGeom prst="rightArrow">
            <a:avLst/>
          </a:prstGeom>
          <a:solidFill>
            <a:srgbClr val="0F8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657600" y="1691640"/>
            <a:ext cx="1572768" cy="4160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A7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123944" y="1920240"/>
            <a:ext cx="640080" cy="640080"/>
          </a:xfrm>
          <a:prstGeom prst="ellipse">
            <a:avLst/>
          </a:prstGeom>
          <a:solidFill>
            <a:srgbClr val="0B6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23944" y="205740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30752" y="2743200"/>
            <a:ext cx="14264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64640"/>
                </a:solidFill>
                <a:latin typeface="Calibri"/>
              </a:defRPr>
            </a:pPr>
            <a:r>
              <a:t>Antri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30752" y="3291840"/>
            <a:ext cx="1426464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scan_jobs +</a:t>
            </a:r>
            <a:br/>
            <a:r>
              <a:t>BullMQ Redis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230368" y="3520440"/>
            <a:ext cx="146304" cy="219456"/>
          </a:xfrm>
          <a:prstGeom prst="rightArrow">
            <a:avLst/>
          </a:prstGeom>
          <a:solidFill>
            <a:srgbClr val="0F8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358384" y="1691640"/>
            <a:ext cx="1572768" cy="4160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A7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824728" y="1920240"/>
            <a:ext cx="640080" cy="640080"/>
          </a:xfrm>
          <a:prstGeom prst="ellipse">
            <a:avLst/>
          </a:prstGeom>
          <a:solidFill>
            <a:srgbClr val="0B6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24728" y="205740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31536" y="2743200"/>
            <a:ext cx="14264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64640"/>
                </a:solidFill>
                <a:latin typeface="Calibri"/>
              </a:defRPr>
            </a:pPr>
            <a:r>
              <a:t>Download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31536" y="3291840"/>
            <a:ext cx="1426464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Worker unduh</a:t>
            </a:r>
            <a:br/>
            <a:r>
              <a:t>→ consume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6931152" y="3520440"/>
            <a:ext cx="146304" cy="219456"/>
          </a:xfrm>
          <a:prstGeom prst="rightArrow">
            <a:avLst/>
          </a:prstGeom>
          <a:solidFill>
            <a:srgbClr val="0F8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059168" y="1691640"/>
            <a:ext cx="1572768" cy="4160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A7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525512" y="1920240"/>
            <a:ext cx="640080" cy="640080"/>
          </a:xfrm>
          <a:prstGeom prst="ellipse">
            <a:avLst/>
          </a:prstGeom>
          <a:solidFill>
            <a:srgbClr val="0B6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25512" y="205740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2743200"/>
            <a:ext cx="14264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64640"/>
                </a:solidFill>
                <a:latin typeface="Calibri"/>
              </a:defRPr>
            </a:pPr>
            <a:r>
              <a:t>OCR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0" y="3291840"/>
            <a:ext cx="1426464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Paperless</a:t>
            </a:r>
            <a:br/>
            <a:r>
              <a:t>baca PDF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8631936" y="3520440"/>
            <a:ext cx="146304" cy="219456"/>
          </a:xfrm>
          <a:prstGeom prst="rightArrow">
            <a:avLst/>
          </a:prstGeom>
          <a:solidFill>
            <a:srgbClr val="0F8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759952" y="1691640"/>
            <a:ext cx="1572768" cy="4160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A7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226296" y="1920240"/>
            <a:ext cx="640080" cy="640080"/>
          </a:xfrm>
          <a:prstGeom prst="ellipse">
            <a:avLst/>
          </a:prstGeom>
          <a:solidFill>
            <a:srgbClr val="064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26296" y="205740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33104" y="2743200"/>
            <a:ext cx="14264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64640"/>
                </a:solidFill>
                <a:latin typeface="Calibri"/>
              </a:defRPr>
            </a:pPr>
            <a:r>
              <a:t>Cocokkan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33104" y="3291840"/>
            <a:ext cx="1426464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checksum →</a:t>
            </a:r>
            <a:br/>
            <a:r>
              <a:t>OCR_DONE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10332720" y="3520440"/>
            <a:ext cx="146304" cy="219456"/>
          </a:xfrm>
          <a:prstGeom prst="rightArrow">
            <a:avLst/>
          </a:prstGeom>
          <a:solidFill>
            <a:srgbClr val="0F8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0460736" y="1691640"/>
            <a:ext cx="1572768" cy="4160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A7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927080" y="1920240"/>
            <a:ext cx="640080" cy="640080"/>
          </a:xfrm>
          <a:prstGeom prst="ellipse">
            <a:avLst/>
          </a:prstGeom>
          <a:solidFill>
            <a:srgbClr val="064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927080" y="205740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33888" y="2743200"/>
            <a:ext cx="14264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64640"/>
                </a:solidFill>
                <a:latin typeface="Calibri"/>
              </a:defRPr>
            </a:pPr>
            <a:r>
              <a:t>Siap AI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33888" y="3291840"/>
            <a:ext cx="1426464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embedding +</a:t>
            </a:r>
            <a:br/>
            <a:r>
              <a:t>Search / Ask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" y="5989320"/>
            <a:ext cx="11247120" cy="365760"/>
          </a:xfrm>
          <a:prstGeom prst="roundRect">
            <a:avLst>
              <a:gd name="adj" fmla="val 10000"/>
            </a:avLst>
          </a:prstGeom>
          <a:solidFill>
            <a:srgbClr val="E8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60167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B6E63"/>
                </a:solidFill>
                <a:latin typeface="Calibri"/>
              </a:defRPr>
            </a:pPr>
            <a:r>
              <a:t>Satu kalimat: UI buat job → worker unduh → Paperless OCR → reconcile → Search / Ask AI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" y="644652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6E63"/>
                </a:solidFill>
                <a:latin typeface="Calibri"/>
              </a:defRPr>
            </a:pPr>
            <a:r>
              <a:t>DocSearch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424160" y="644652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64640"/>
                </a:solidFill>
                <a:latin typeface="Calibri"/>
              </a:defRPr>
            </a:pPr>
            <a:r>
              <a:t>Status file &amp; tempat 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822960" cy="64008"/>
          </a:xfrm>
          <a:prstGeom prst="rect">
            <a:avLst/>
          </a:prstGeom>
          <a:solidFill>
            <a:srgbClr val="0B6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sync_files + di mana hasil OCR tinggal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08760"/>
            <a:ext cx="5760720" cy="4663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A7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6E63"/>
                </a:solidFill>
                <a:latin typeface="Calibri"/>
              </a:defRPr>
            </a:pPr>
            <a:r>
              <a:t>Status di tabel sync_files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267712"/>
            <a:ext cx="292608" cy="292608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1945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Calibri"/>
              </a:defRPr>
            </a:pPr>
            <a:r>
              <a:t>DISCOVERED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194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File dipilih / ditemukan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86968" y="2606040"/>
            <a:ext cx="54864" cy="274320"/>
          </a:xfrm>
          <a:prstGeom prst="rect">
            <a:avLst/>
          </a:prstGeom>
          <a:solidFill>
            <a:srgbClr val="A7D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77240" y="2999232"/>
            <a:ext cx="292608" cy="292608"/>
          </a:xfrm>
          <a:prstGeom prst="ellipse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29260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Calibri"/>
              </a:defRPr>
            </a:pPr>
            <a:r>
              <a:t>DOWNLOADING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926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Sedang diunduh WebDAV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6968" y="3337560"/>
            <a:ext cx="54864" cy="274320"/>
          </a:xfrm>
          <a:prstGeom prst="rect">
            <a:avLst/>
          </a:prstGeom>
          <a:solidFill>
            <a:srgbClr val="A7D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77240" y="3730752"/>
            <a:ext cx="292608" cy="292608"/>
          </a:xfrm>
          <a:prstGeom prst="ellipse">
            <a:avLst/>
          </a:prstGeom>
          <a:solidFill>
            <a:srgbClr val="0F8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" y="36576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Calibri"/>
              </a:defRPr>
            </a:pPr>
            <a:r>
              <a:t>QUEUED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657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Masuk folder consume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6968" y="4069080"/>
            <a:ext cx="54864" cy="274320"/>
          </a:xfrm>
          <a:prstGeom prst="rect">
            <a:avLst/>
          </a:prstGeom>
          <a:solidFill>
            <a:srgbClr val="A7D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77240" y="4462272"/>
            <a:ext cx="292608" cy="292608"/>
          </a:xfrm>
          <a:prstGeom prst="ellipse">
            <a:avLst/>
          </a:prstGeom>
          <a:solidFill>
            <a:srgbClr val="C27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34440" y="43891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Calibri"/>
              </a:defRPr>
            </a:pPr>
            <a:r>
              <a:t>OCR_PENDING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4389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Menunggu Paperless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6968" y="4800600"/>
            <a:ext cx="54864" cy="274320"/>
          </a:xfrm>
          <a:prstGeom prst="rect">
            <a:avLst/>
          </a:prstGeom>
          <a:solidFill>
            <a:srgbClr val="A7D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77240" y="5193792"/>
            <a:ext cx="292608" cy="292608"/>
          </a:xfrm>
          <a:prstGeom prst="ellipse">
            <a:avLst/>
          </a:prstGeom>
          <a:solidFill>
            <a:srgbClr val="0B6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34440" y="51206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Calibri"/>
              </a:defRPr>
            </a:pPr>
            <a:r>
              <a:t>OCR_DONE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5120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Siap search &amp; Ask AI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46520" y="1508760"/>
            <a:ext cx="5257800" cy="4663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B6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16916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6E63"/>
                </a:solidFill>
                <a:latin typeface="Calibri"/>
              </a:defRPr>
            </a:pPr>
            <a:r>
              <a:t>Di mana data disimpan?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720840" y="2240280"/>
            <a:ext cx="4754880" cy="777240"/>
          </a:xfrm>
          <a:prstGeom prst="roundRect">
            <a:avLst>
              <a:gd name="adj" fmla="val 10000"/>
            </a:avLst>
          </a:prstGeom>
          <a:solidFill>
            <a:srgbClr val="0F8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03720" y="2350008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Nextcloud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03720" y="26517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F5F3"/>
                </a:solidFill>
                <a:latin typeface="Calibri"/>
              </a:defRPr>
            </a:pPr>
            <a:r>
              <a:t>PDF asli (sumber)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720840" y="3154680"/>
            <a:ext cx="4754880" cy="777240"/>
          </a:xfrm>
          <a:prstGeom prst="roundRect">
            <a:avLst>
              <a:gd name="adj" fmla="val 10000"/>
            </a:avLst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03720" y="3264408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Paperless media + DB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35661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F5F3"/>
                </a:solidFill>
                <a:latin typeface="Calibri"/>
              </a:defRPr>
            </a:pPr>
            <a:r>
              <a:t>File olahan + teks OCR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720840" y="4069080"/>
            <a:ext cx="4754880" cy="777240"/>
          </a:xfrm>
          <a:prstGeom prst="roundRect">
            <a:avLst>
              <a:gd name="adj" fmla="val 10000"/>
            </a:avLst>
          </a:prstGeom>
          <a:solidFill>
            <a:srgbClr val="C27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03720" y="4178808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Postgres DB app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03720" y="44805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F5F3"/>
                </a:solidFill>
                <a:latin typeface="Calibri"/>
              </a:defRPr>
            </a:pPr>
            <a:r>
              <a:t>sync_files, scan_jobs, chat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720840" y="4983480"/>
            <a:ext cx="4754880" cy="777240"/>
          </a:xfrm>
          <a:prstGeom prst="roundRect">
            <a:avLst>
              <a:gd name="adj" fmla="val 10000"/>
            </a:avLst>
          </a:prstGeom>
          <a:solidFill>
            <a:srgbClr val="064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03720" y="5093208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document_chunks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03720" y="53949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F5F3"/>
                </a:solidFill>
                <a:latin typeface="Calibri"/>
              </a:defRPr>
            </a:pPr>
            <a:r>
              <a:t>Potongan teks + embedding AI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44652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6E63"/>
                </a:solidFill>
                <a:latin typeface="Calibri"/>
              </a:defRPr>
            </a:pPr>
            <a:r>
              <a:t>DocSearch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24160" y="644652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64640"/>
                </a:solidFill>
                <a:latin typeface="Calibri"/>
              </a:defRPr>
            </a:pPr>
            <a:r>
              <a:t>Fitur untuk pengguna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822960" cy="64008"/>
          </a:xfrm>
          <a:prstGeom prst="rect">
            <a:avLst/>
          </a:prstGeom>
          <a:solidFill>
            <a:srgbClr val="0B6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Yang dipakai sehari-hari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5448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8F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46304" cy="2011680"/>
          </a:xfrm>
          <a:prstGeom prst="roundRect">
            <a:avLst>
              <a:gd name="adj" fmla="val 10000"/>
            </a:avLst>
          </a:prstGeom>
          <a:solidFill>
            <a:srgbClr val="0B6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2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B6E63"/>
                </a:solidFill>
                <a:latin typeface="Calibri"/>
              </a:defRPr>
            </a:pPr>
            <a:r>
              <a:t>Ask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2316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Tanya dokumen dengan bahasa biasa, jawaban dari isi OCR.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55448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8F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43400" y="1554480"/>
            <a:ext cx="146304" cy="2011680"/>
          </a:xfrm>
          <a:prstGeom prst="roundRect">
            <a:avLst>
              <a:gd name="adj" fmla="val 10000"/>
            </a:avLst>
          </a:prstGeom>
          <a:solidFill>
            <a:srgbClr val="0B6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187452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B6E63"/>
                </a:solidFill>
                <a:latin typeface="Calibri"/>
              </a:defRPr>
            </a:pPr>
            <a:r>
              <a:t>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242316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Pencarian isi dokumen + ringkasan hasil.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80" y="155448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8F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83880" y="1554480"/>
            <a:ext cx="146304" cy="2011680"/>
          </a:xfrm>
          <a:prstGeom prst="roundRect">
            <a:avLst>
              <a:gd name="adj" fmla="val 10000"/>
            </a:avLst>
          </a:prstGeom>
          <a:solidFill>
            <a:srgbClr val="0B6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49640" y="187452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B6E63"/>
                </a:solidFill>
                <a:latin typeface="Calibri"/>
              </a:defRPr>
            </a:pPr>
            <a:r>
              <a:t>Library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242316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Browse cloud, favorit folder, batch ambil &amp; OCR.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79476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8F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2920" y="3794760"/>
            <a:ext cx="146304" cy="2011680"/>
          </a:xfrm>
          <a:prstGeom prst="roundRect">
            <a:avLst>
              <a:gd name="adj" fmla="val 10000"/>
            </a:avLst>
          </a:prstGeom>
          <a:solidFill>
            <a:srgbClr val="0B6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1148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B6E63"/>
                </a:solidFill>
                <a:latin typeface="Calibri"/>
              </a:defRPr>
            </a:pPr>
            <a:r>
              <a:t>Preview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66344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Baca PDF di panel yang bisa digeser lebarnya.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379476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8F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343400" y="3794760"/>
            <a:ext cx="146304" cy="2011680"/>
          </a:xfrm>
          <a:prstGeom prst="roundRect">
            <a:avLst>
              <a:gd name="adj" fmla="val 10000"/>
            </a:avLst>
          </a:prstGeom>
          <a:solidFill>
            <a:srgbClr val="0B6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09160" y="41148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B6E63"/>
                </a:solidFill>
                <a:latin typeface="Calibri"/>
              </a:defRPr>
            </a:pPr>
            <a:r>
              <a:t>Recent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466344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Daftar hasil scan terbaru dengan size &amp; tanggal.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83880" y="379476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8F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183880" y="3794760"/>
            <a:ext cx="146304" cy="2011680"/>
          </a:xfrm>
          <a:prstGeom prst="roundRect">
            <a:avLst>
              <a:gd name="adj" fmla="val 10000"/>
            </a:avLst>
          </a:prstGeom>
          <a:solidFill>
            <a:srgbClr val="0B6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49640" y="41148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B6E63"/>
                </a:solidFill>
                <a:latin typeface="Calibri"/>
              </a:defRPr>
            </a:pPr>
            <a:r>
              <a:t>Status jelas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40" y="466344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Pending, proses, siap, gagal, dan file 0 B.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4652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6E63"/>
                </a:solidFill>
                <a:latin typeface="Calibri"/>
              </a:defRPr>
            </a:pPr>
            <a:r>
              <a:t>DocSearch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24160" y="644652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64640"/>
                </a:solidFill>
                <a:latin typeface="Calibri"/>
              </a:defRPr>
            </a:pPr>
            <a:r>
              <a:t>Fitur untuk admin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822960" cy="64008"/>
          </a:xfrm>
          <a:prstGeom prst="rect">
            <a:avLst/>
          </a:prstGeom>
          <a:solidFill>
            <a:srgbClr val="0B6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Kontrol organisasi tanpa rumit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5486400" cy="2011680"/>
          </a:xfrm>
          <a:prstGeom prst="roundRect">
            <a:avLst>
              <a:gd name="adj" fmla="val 10000"/>
            </a:avLst>
          </a:prstGeom>
          <a:solidFill>
            <a:srgbClr val="0B6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User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F5F3"/>
                </a:solidFill>
                <a:latin typeface="Calibri"/>
              </a:defRPr>
            </a:pPr>
            <a:r>
              <a:t>Tambah &amp; edit user lewat dialog.</a:t>
            </a:r>
            <a:br/>
            <a:r>
              <a:t>Role Admin / User, kredensial cloud.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59" y="1554480"/>
            <a:ext cx="5486400" cy="2011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A7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19" y="19202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B6E63"/>
                </a:solidFill>
                <a:latin typeface="Calibri"/>
              </a:defRPr>
            </a:pPr>
            <a:r>
              <a:t>Audit aktivitas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19" y="251460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Lihat pemakaian search &amp; Ask AI.</a:t>
            </a:r>
            <a:br/>
            <a:r>
              <a:t>Filter waktu, estimasi biaya AI.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794760"/>
            <a:ext cx="5486400" cy="2011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A7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605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B6E63"/>
                </a:solidFill>
                <a:latin typeface="Calibri"/>
              </a:defRPr>
            </a:pPr>
            <a:r>
              <a:t>Auto scan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75488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Jadwal scan folder favorit.</a:t>
            </a:r>
            <a:br/>
            <a:r>
              <a:t>Bisa dinyalakan / dimatikan.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59" y="3794760"/>
            <a:ext cx="5486400" cy="2011680"/>
          </a:xfrm>
          <a:prstGeom prst="roundRect">
            <a:avLst>
              <a:gd name="adj" fmla="val 10000"/>
            </a:avLst>
          </a:prstGeom>
          <a:solidFill>
            <a:srgbClr val="0B6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19" y="41605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Isolasi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19" y="475488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F5F3"/>
                </a:solidFill>
                <a:latin typeface="Calibri"/>
              </a:defRPr>
            </a:pPr>
            <a:r>
              <a:t>Setiap user hanya dokumennya.</a:t>
            </a:r>
            <a:br/>
            <a:r>
              <a:t>Aman untuk multi-pegawai.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4652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6E63"/>
                </a:solidFill>
                <a:latin typeface="Calibri"/>
              </a:defRPr>
            </a:pPr>
            <a:r>
              <a:t>DocSearch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60" y="644652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64640"/>
                </a:solidFill>
                <a:latin typeface="Calibri"/>
              </a:defRPr>
            </a:pPr>
            <a:r>
              <a:t>Infrastruktur yang direkomendasikan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822960" cy="64008"/>
          </a:xfrm>
          <a:prstGeom prst="rect">
            <a:avLst/>
          </a:prstGeom>
          <a:solidFill>
            <a:srgbClr val="0B6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Satu server aplikasi, spek praktis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08760"/>
            <a:ext cx="11064240" cy="1234440"/>
          </a:xfrm>
          <a:prstGeom prst="roundRect">
            <a:avLst>
              <a:gd name="adj" fmla="val 10000"/>
            </a:avLst>
          </a:prstGeom>
          <a:solidFill>
            <a:srgbClr val="0B6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Rekomendasi utama: RAM 8 GB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8F5F3"/>
                </a:solidFill>
                <a:latin typeface="Calibri"/>
              </a:defRPr>
            </a:pPr>
            <a:r>
              <a:t>Stabil untuk portal + OCR + antrean dalam satu mesin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063240"/>
            <a:ext cx="2743200" cy="2743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A7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32918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CPU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79476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B6E63"/>
                </a:solidFill>
                <a:latin typeface="Calibri"/>
              </a:defRPr>
            </a:pPr>
            <a:r>
              <a:t>4 vCPU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66344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E293B"/>
                </a:solidFill>
                <a:latin typeface="Calibri"/>
              </a:defRPr>
            </a:pPr>
            <a:r>
              <a:t>Portal &amp; proses OCR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3063240"/>
            <a:ext cx="2743200" cy="2743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A7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32918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379476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B6E63"/>
                </a:solidFill>
                <a:latin typeface="Calibri"/>
              </a:defRPr>
            </a:pPr>
            <a:r>
              <a:t>8 GB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466344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E293B"/>
                </a:solidFill>
                <a:latin typeface="Calibri"/>
              </a:defRPr>
            </a:pPr>
            <a:r>
              <a:t>Rekomendasi utama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59" y="3063240"/>
            <a:ext cx="2743200" cy="2743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A7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19" y="32918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Disk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19" y="379476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B6E63"/>
                </a:solidFill>
                <a:latin typeface="Calibri"/>
              </a:defRPr>
            </a:pPr>
            <a:r>
              <a:t>100+ GB SSD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39" y="466344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E293B"/>
                </a:solidFill>
                <a:latin typeface="Calibri"/>
              </a:defRPr>
            </a:pPr>
            <a:r>
              <a:t>Dokumen &amp; indeks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89719" y="3063240"/>
            <a:ext cx="2743200" cy="2743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A7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79" y="32918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Akses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79" y="379476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B6E63"/>
                </a:solidFill>
                <a:latin typeface="Calibri"/>
              </a:defRPr>
            </a:pPr>
            <a:r>
              <a:t>HTTPS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599" y="466344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E293B"/>
                </a:solidFill>
                <a:latin typeface="Calibri"/>
              </a:defRPr>
            </a:pPr>
            <a:r>
              <a:t>Portal aman di browser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4652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6E63"/>
                </a:solidFill>
                <a:latin typeface="Calibri"/>
              </a:defRPr>
            </a:pPr>
            <a:r>
              <a:t>DocSearch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644652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15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64640"/>
                </a:solidFill>
                <a:latin typeface="Calibri"/>
              </a:defRPr>
            </a:pPr>
            <a:r>
              <a:t>Tata letak di server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822960" cy="64008"/>
          </a:xfrm>
          <a:prstGeom prst="rect">
            <a:avLst/>
          </a:prstGeom>
          <a:solidFill>
            <a:srgbClr val="0B6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Semua komponen dalam satu lingkungan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1088136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B6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6E63"/>
                </a:solidFill>
                <a:latin typeface="Calibri"/>
              </a:defRPr>
            </a:pPr>
            <a:r>
              <a:t>Server aplikasi (8 GB RAM · 4 vCPU · SSD)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2286000"/>
            <a:ext cx="3108960" cy="1554480"/>
          </a:xfrm>
          <a:prstGeom prst="roundRect">
            <a:avLst>
              <a:gd name="adj" fmla="val 10000"/>
            </a:avLst>
          </a:prstGeom>
          <a:solidFill>
            <a:srgbClr val="0B6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88036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Portal Web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2286000"/>
            <a:ext cx="3108960" cy="1554480"/>
          </a:xfrm>
          <a:prstGeom prst="roundRect">
            <a:avLst>
              <a:gd name="adj" fmla="val 10000"/>
            </a:avLst>
          </a:prstGeom>
          <a:solidFill>
            <a:srgbClr val="0F8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288036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Worker Sync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2286000"/>
            <a:ext cx="3108960" cy="1554480"/>
          </a:xfrm>
          <a:prstGeom prst="roundRect">
            <a:avLst>
              <a:gd name="adj" fmla="val 10000"/>
            </a:avLst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79" y="288036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Mesin OCR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4160520"/>
            <a:ext cx="3108960" cy="1463040"/>
          </a:xfrm>
          <a:prstGeom prst="roundRect">
            <a:avLst>
              <a:gd name="adj" fmla="val 10000"/>
            </a:avLst>
          </a:prstGeom>
          <a:solidFill>
            <a:srgbClr val="C27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709159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60" y="4160520"/>
            <a:ext cx="3108960" cy="1463040"/>
          </a:xfrm>
          <a:prstGeom prst="roundRect">
            <a:avLst>
              <a:gd name="adj" fmla="val 10000"/>
            </a:avLst>
          </a:prstGeom>
          <a:solidFill>
            <a:srgbClr val="064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4709159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Antre / Cache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79" y="4160520"/>
            <a:ext cx="3108960" cy="1463040"/>
          </a:xfrm>
          <a:prstGeom prst="roundRect">
            <a:avLst>
              <a:gd name="adj" fmla="val 10000"/>
            </a:avLst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79" y="4709159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Penyimpanan file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4652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6E63"/>
                </a:solidFill>
                <a:latin typeface="Calibri"/>
              </a:defRPr>
            </a:pPr>
            <a:r>
              <a:t>DocSearch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44652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64640"/>
                </a:solidFill>
                <a:latin typeface="Calibri"/>
              </a:defRPr>
            </a:pPr>
            <a:r>
              <a:t>Keamanan untuk organisasi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822960" cy="64008"/>
          </a:xfrm>
          <a:prstGeom prst="rect">
            <a:avLst/>
          </a:prstGeom>
          <a:solidFill>
            <a:srgbClr val="0B6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Cukup jelas untuk keputusan, tanpa detail berlebih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737360"/>
            <a:ext cx="2788920" cy="3931920"/>
          </a:xfrm>
          <a:prstGeom prst="roundRect">
            <a:avLst>
              <a:gd name="adj" fmla="val 10000"/>
            </a:avLst>
          </a:prstGeom>
          <a:solidFill>
            <a:srgbClr val="064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08760" y="219456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23317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B6E63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20040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Login &amp; peran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023360"/>
            <a:ext cx="2331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8F5F3"/>
                </a:solidFill>
                <a:latin typeface="Calibri"/>
              </a:defRPr>
            </a:pPr>
            <a:r>
              <a:t>Admin dan user terpisah.</a:t>
            </a:r>
            <a:br/>
            <a:r>
              <a:t>Akses sesuai wewenang.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737360"/>
            <a:ext cx="2788920" cy="3931920"/>
          </a:xfrm>
          <a:prstGeom prst="roundRect">
            <a:avLst>
              <a:gd name="adj" fmla="val 10000"/>
            </a:avLst>
          </a:prstGeom>
          <a:solidFill>
            <a:srgbClr val="0B6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434840" y="219456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23317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B6E63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320040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Data per user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4023360"/>
            <a:ext cx="2331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8F5F3"/>
                </a:solidFill>
                <a:latin typeface="Calibri"/>
              </a:defRPr>
            </a:pPr>
            <a:r>
              <a:t>Dokumen tidak bercampur.</a:t>
            </a:r>
            <a:br/>
            <a:r>
              <a:t>Siap multi-pegawai.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737360"/>
            <a:ext cx="2788920" cy="3931920"/>
          </a:xfrm>
          <a:prstGeom prst="roundRect">
            <a:avLst>
              <a:gd name="adj" fmla="val 10000"/>
            </a:avLst>
          </a:prstGeom>
          <a:solidFill>
            <a:srgbClr val="064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60920" y="219456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60920" y="23317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B6E63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320040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Kredensial cloud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023360"/>
            <a:ext cx="2331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8F5F3"/>
                </a:solidFill>
                <a:latin typeface="Calibri"/>
              </a:defRPr>
            </a:pPr>
            <a:r>
              <a:t>Akses cloud per orang.</a:t>
            </a:r>
            <a:br/>
            <a:r>
              <a:t>Disimpan terenkripsi.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81160" y="1737360"/>
            <a:ext cx="2788920" cy="3931920"/>
          </a:xfrm>
          <a:prstGeom prst="roundRect">
            <a:avLst>
              <a:gd name="adj" fmla="val 10000"/>
            </a:avLst>
          </a:prstGeom>
          <a:solidFill>
            <a:srgbClr val="0B6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287000" y="219456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87000" y="23317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B6E63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64040" y="320040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Jejak aktivitas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0" y="4023360"/>
            <a:ext cx="2331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8F5F3"/>
                </a:solidFill>
                <a:latin typeface="Calibri"/>
              </a:defRPr>
            </a:pPr>
            <a:r>
              <a:t>Admin bisa audit.</a:t>
            </a:r>
            <a:br/>
            <a:r>
              <a:t>Pemakaian AI terpantau.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4652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6E63"/>
                </a:solidFill>
                <a:latin typeface="Calibri"/>
              </a:defRPr>
            </a:pPr>
            <a:r>
              <a:t>DocSearch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0" y="644652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64640"/>
                </a:solidFill>
                <a:latin typeface="Calibri"/>
              </a:defRPr>
            </a:pPr>
            <a:r>
              <a:t>Mengapa cocok untuk organisasi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822960" cy="64008"/>
          </a:xfrm>
          <a:prstGeom prst="rect">
            <a:avLst/>
          </a:prstGeom>
          <a:solidFill>
            <a:srgbClr val="0B6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Ringkas &amp; operasional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737360"/>
            <a:ext cx="2788920" cy="3931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A7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737360"/>
            <a:ext cx="2788920" cy="914400"/>
          </a:xfrm>
          <a:prstGeom prst="roundRect">
            <a:avLst>
              <a:gd name="adj" fmla="val 10000"/>
            </a:avLst>
          </a:prstGeom>
          <a:solidFill>
            <a:srgbClr val="0B6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65960"/>
            <a:ext cx="2788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Cepat dipakai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2331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E293B"/>
                </a:solidFill>
                <a:latin typeface="Calibri"/>
              </a:defRPr>
            </a:pPr>
            <a:r>
              <a:t>User langsung browse cloud,</a:t>
            </a:r>
            <a:br/>
            <a:r>
              <a:t>tidak perlu pindah file manual.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737360"/>
            <a:ext cx="2788920" cy="3931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A7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29000" y="1737360"/>
            <a:ext cx="2788920" cy="914400"/>
          </a:xfrm>
          <a:prstGeom prst="roundRect">
            <a:avLst>
              <a:gd name="adj" fmla="val 10000"/>
            </a:avLst>
          </a:prstGeom>
          <a:solidFill>
            <a:srgbClr val="0B6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1965960"/>
            <a:ext cx="2788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Skala bertahap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108960"/>
            <a:ext cx="2331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E293B"/>
                </a:solidFill>
                <a:latin typeface="Calibri"/>
              </a:defRPr>
            </a:pPr>
            <a:r>
              <a:t>Mulai dari unit kecil,</a:t>
            </a:r>
            <a:br/>
            <a:r>
              <a:t>lalu perluas folder &amp; user.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737360"/>
            <a:ext cx="2788920" cy="3931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A7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55080" y="1737360"/>
            <a:ext cx="2788920" cy="914400"/>
          </a:xfrm>
          <a:prstGeom prst="roundRect">
            <a:avLst>
              <a:gd name="adj" fmla="val 10000"/>
            </a:avLst>
          </a:prstGeom>
          <a:solidFill>
            <a:srgbClr val="0B6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965960"/>
            <a:ext cx="2788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Biaya terkendali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108960"/>
            <a:ext cx="2331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E293B"/>
                </a:solidFill>
                <a:latin typeface="Calibri"/>
              </a:defRPr>
            </a:pPr>
            <a:r>
              <a:t>Satu server 8 GB.</a:t>
            </a:r>
            <a:br/>
            <a:r>
              <a:t>AI dipakai sesuai kebutuhan.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81160" y="1737360"/>
            <a:ext cx="2788920" cy="3931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A7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281160" y="1737360"/>
            <a:ext cx="2788920" cy="914400"/>
          </a:xfrm>
          <a:prstGeom prst="roundRect">
            <a:avLst>
              <a:gd name="adj" fmla="val 10000"/>
            </a:avLst>
          </a:prstGeom>
          <a:solidFill>
            <a:srgbClr val="0B6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81160" y="1965960"/>
            <a:ext cx="2788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Transparan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0" y="3108960"/>
            <a:ext cx="2331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E293B"/>
                </a:solidFill>
                <a:latin typeface="Calibri"/>
              </a:defRPr>
            </a:pPr>
            <a:r>
              <a:t>Status OCR &amp; audit</a:t>
            </a:r>
            <a:br/>
            <a:r>
              <a:t>terlihat jelas.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4652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6E63"/>
                </a:solidFill>
                <a:latin typeface="Calibri"/>
              </a:defRPr>
            </a:pPr>
            <a:r>
              <a:t>DocSearch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0" y="644652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64640"/>
                </a:solidFill>
                <a:latin typeface="Calibri"/>
              </a:defRPr>
            </a:pPr>
            <a:r>
              <a:t>Langkah selanjutnya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822960" cy="64008"/>
          </a:xfrm>
          <a:prstGeom prst="rect">
            <a:avLst/>
          </a:prstGeom>
          <a:solidFill>
            <a:srgbClr val="0B6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Dari demo sampai pakai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737360"/>
            <a:ext cx="2788920" cy="3931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B6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08760" y="2103120"/>
            <a:ext cx="731520" cy="731520"/>
          </a:xfrm>
          <a:prstGeom prst="ellipse">
            <a:avLst/>
          </a:prstGeom>
          <a:solidFill>
            <a:srgbClr val="0B6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224028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1089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B6E63"/>
                </a:solidFill>
                <a:latin typeface="Calibri"/>
              </a:defRPr>
            </a:pPr>
            <a:r>
              <a:t>Demo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40480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Lihat alur Library,</a:t>
            </a:r>
            <a:br/>
            <a:r>
              <a:t>Search, dan Ask AI.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291840" y="3474720"/>
            <a:ext cx="164592" cy="256032"/>
          </a:xfrm>
          <a:prstGeom prst="rightArrow">
            <a:avLst/>
          </a:prstGeom>
          <a:solidFill>
            <a:srgbClr val="A7D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29000" y="1737360"/>
            <a:ext cx="2788920" cy="3931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B6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434840" y="2103120"/>
            <a:ext cx="731520" cy="731520"/>
          </a:xfrm>
          <a:prstGeom prst="ellipse">
            <a:avLst/>
          </a:prstGeom>
          <a:solidFill>
            <a:srgbClr val="0B6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224028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31089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B6E63"/>
                </a:solidFill>
                <a:latin typeface="Calibri"/>
              </a:defRPr>
            </a:pPr>
            <a:r>
              <a:t>Pilot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840480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1 unit / beberapa user</a:t>
            </a:r>
            <a:br/>
            <a:r>
              <a:t>+ folder prioritas.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217920" y="3474720"/>
            <a:ext cx="164592" cy="256032"/>
          </a:xfrm>
          <a:prstGeom prst="rightArrow">
            <a:avLst/>
          </a:prstGeom>
          <a:solidFill>
            <a:srgbClr val="A7D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55080" y="1737360"/>
            <a:ext cx="2788920" cy="3931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B6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60920" y="2103120"/>
            <a:ext cx="731520" cy="731520"/>
          </a:xfrm>
          <a:prstGeom prst="ellipse">
            <a:avLst/>
          </a:prstGeom>
          <a:solidFill>
            <a:srgbClr val="0B6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60920" y="224028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1089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B6E63"/>
                </a:solidFill>
                <a:latin typeface="Calibri"/>
              </a:defRPr>
            </a:pPr>
            <a:r>
              <a:t>Ukur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840480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Waktu cari dokumen</a:t>
            </a:r>
            <a:br/>
            <a:r>
              <a:t>&amp; kepuasan user.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144000" y="3474720"/>
            <a:ext cx="164592" cy="256032"/>
          </a:xfrm>
          <a:prstGeom prst="rightArrow">
            <a:avLst/>
          </a:prstGeom>
          <a:solidFill>
            <a:srgbClr val="A7D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281160" y="1737360"/>
            <a:ext cx="2788920" cy="3931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B6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87000" y="2103120"/>
            <a:ext cx="731520" cy="731520"/>
          </a:xfrm>
          <a:prstGeom prst="ellipse">
            <a:avLst/>
          </a:prstGeom>
          <a:solidFill>
            <a:srgbClr val="0B6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87000" y="224028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64040" y="31089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B6E63"/>
                </a:solidFill>
                <a:latin typeface="Calibri"/>
              </a:defRPr>
            </a:pPr>
            <a:r>
              <a:t>Rollout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0" y="3840480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Perluas user &amp;</a:t>
            </a:r>
            <a:br/>
            <a:r>
              <a:t>folder kerja.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6E63"/>
                </a:solidFill>
                <a:latin typeface="Calibri"/>
              </a:defRPr>
            </a:pPr>
            <a:r>
              <a:t>DocSearch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60" y="644652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46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4572000"/>
            <a:ext cx="2743200" cy="2743200"/>
          </a:xfrm>
          <a:prstGeom prst="ellipse">
            <a:avLst/>
          </a:prstGeom>
          <a:solidFill>
            <a:srgbClr val="0B6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-731520"/>
            <a:ext cx="2743200" cy="2743200"/>
          </a:xfrm>
          <a:prstGeom prst="ellipse">
            <a:avLst/>
          </a:prstGeom>
          <a:solidFill>
            <a:srgbClr val="0B6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Dokumen organisasi</a:t>
            </a:r>
            <a:br/>
            <a:r>
              <a:t>siap ditemukan dan ditanyakan.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7D6CE"/>
                </a:solidFill>
                <a:latin typeface="Calibri"/>
              </a:defRPr>
            </a:pPr>
            <a:r>
              <a:t>Demo singkat  ·  Pilot unit  ·  Rollout bertahap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5720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DocSearch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DocSearch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4652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20 /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